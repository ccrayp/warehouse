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  <p:sldId id="278" r:id="rId8"/>
    <p:sldId id="285" r:id="rId9"/>
    <p:sldId id="286" r:id="rId10"/>
    <p:sldId id="287" r:id="rId11"/>
    <p:sldId id="288" r:id="rId12"/>
    <p:sldId id="262" r:id="rId13"/>
    <p:sldId id="263" r:id="rId14"/>
    <p:sldId id="267" r:id="rId15"/>
    <p:sldId id="268" r:id="rId16"/>
    <p:sldId id="266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64" r:id="rId27"/>
    <p:sldId id="280" r:id="rId28"/>
    <p:sldId id="283" r:id="rId29"/>
    <p:sldId id="281" r:id="rId30"/>
    <p:sldId id="282" r:id="rId31"/>
    <p:sldId id="284" r:id="rId32"/>
    <p:sldId id="265" r:id="rId33"/>
    <p:sldId id="279" r:id="rId34"/>
  </p:sldIdLst>
  <p:sldSz cx="12192000" cy="6858000"/>
  <p:notesSz cx="6858000" cy="9144000"/>
  <p:embeddedFontLst>
    <p:embeddedFont>
      <p:font typeface="DIN Alternate" panose="020B0500000000000000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font" Target="fonts/font1.fntdata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80553"/>
            <a:ext cx="9144000" cy="2387600"/>
          </a:xfrm>
        </p:spPr>
        <p:txBody>
          <a:bodyPr>
            <a:normAutofit fontScale="90000"/>
          </a:bodyPr>
          <a:p>
            <a:r>
              <a:rPr lang="en-US" altLang="en-US">
                <a:latin typeface="DIN Alternate" panose="020B0500000000000000" charset="0"/>
                <a:cs typeface="DIN Alternate" panose="020B0500000000000000" charset="0"/>
              </a:rPr>
              <a:t>Разработка базы данных  </a:t>
            </a:r>
            <a:r>
              <a:rPr lang="en-US" altLang="en-US" sz="5300">
                <a:latin typeface="DIN Alternate" panose="020B0500000000000000" charset="0"/>
                <a:cs typeface="DIN Alternate" panose="020B0500000000000000" charset="0"/>
              </a:rPr>
              <a:t>для </a:t>
            </a:r>
            <a:r>
              <a:rPr lang="en-US" altLang="en-US" sz="5300">
                <a:solidFill>
                  <a:schemeClr val="tx1">
                    <a:lumMod val="75000"/>
                    <a:lumOff val="25000"/>
                  </a:schemeClr>
                </a:solidFill>
                <a:latin typeface="DIN Alternate" panose="020B0500000000000000" charset="0"/>
                <a:cs typeface="DIN Alternate" panose="020B0500000000000000" charset="0"/>
              </a:rPr>
              <a:t>системы автоматизации работы склада</a:t>
            </a:r>
            <a:endParaRPr lang="en-US" altLang="en-US" sz="5300">
              <a:solidFill>
                <a:schemeClr val="tx1">
                  <a:lumMod val="75000"/>
                  <a:lumOff val="25000"/>
                </a:schemeClr>
              </a:solidFill>
              <a:latin typeface="DIN Alternate" panose="020B0500000000000000" charset="0"/>
              <a:cs typeface="DIN Alternate" panose="020B0500000000000000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5685790"/>
            <a:ext cx="9144000" cy="1172210"/>
          </a:xfrm>
        </p:spPr>
        <p:txBody>
          <a:bodyPr>
            <a:normAutofit fontScale="90000"/>
          </a:bodyPr>
          <a:p>
            <a:pPr algn="r" fontAlgn="auto">
              <a:lnSpc>
                <a:spcPct val="100000"/>
              </a:lnSpc>
              <a:spcBef>
                <a:spcPts val="0"/>
              </a:spcBef>
            </a:pPr>
            <a:r>
              <a:rPr lang="ru-RU" altLang="en-US">
                <a:solidFill>
                  <a:schemeClr val="bg2">
                    <a:lumMod val="90000"/>
                  </a:schemeClr>
                </a:solidFill>
                <a:latin typeface="DIN Alternate" panose="020B0500000000000000" charset="0"/>
                <a:cs typeface="DIN Alternate" panose="020B0500000000000000" charset="0"/>
              </a:rPr>
              <a:t>Выполнил:</a:t>
            </a:r>
            <a:endParaRPr lang="ru-RU" altLang="en-US">
              <a:solidFill>
                <a:schemeClr val="bg2">
                  <a:lumMod val="90000"/>
                </a:schemeClr>
              </a:solidFill>
              <a:latin typeface="DIN Alternate" panose="020B0500000000000000" charset="0"/>
              <a:cs typeface="DIN Alternate" panose="020B0500000000000000" charset="0"/>
            </a:endParaRPr>
          </a:p>
          <a:p>
            <a:pPr algn="r" fontAlgn="auto">
              <a:lnSpc>
                <a:spcPct val="100000"/>
              </a:lnSpc>
              <a:spcBef>
                <a:spcPts val="0"/>
              </a:spcBef>
            </a:pPr>
            <a:r>
              <a:rPr lang="ru-RU" altLang="en-US">
                <a:solidFill>
                  <a:schemeClr val="bg2">
                    <a:lumMod val="90000"/>
                  </a:schemeClr>
                </a:solidFill>
                <a:latin typeface="DIN Alternate" panose="020B0500000000000000" charset="0"/>
                <a:cs typeface="DIN Alternate" panose="020B0500000000000000" charset="0"/>
              </a:rPr>
              <a:t>Студен группы 3093</a:t>
            </a:r>
            <a:endParaRPr lang="ru-RU" altLang="en-US">
              <a:solidFill>
                <a:schemeClr val="bg2">
                  <a:lumMod val="90000"/>
                </a:schemeClr>
              </a:solidFill>
              <a:latin typeface="DIN Alternate" panose="020B0500000000000000" charset="0"/>
              <a:cs typeface="DIN Alternate" panose="020B0500000000000000" charset="0"/>
            </a:endParaRPr>
          </a:p>
          <a:p>
            <a:pPr algn="r" fontAlgn="auto">
              <a:lnSpc>
                <a:spcPct val="100000"/>
              </a:lnSpc>
              <a:spcBef>
                <a:spcPts val="0"/>
              </a:spcBef>
            </a:pPr>
            <a:r>
              <a:rPr lang="ru-RU" altLang="en-US">
                <a:solidFill>
                  <a:schemeClr val="bg2">
                    <a:lumMod val="90000"/>
                  </a:schemeClr>
                </a:solidFill>
                <a:latin typeface="DIN Alternate" panose="020B0500000000000000" charset="0"/>
                <a:cs typeface="DIN Alternate" panose="020B0500000000000000" charset="0"/>
              </a:rPr>
              <a:t>Михайлов Роман</a:t>
            </a:r>
            <a:endParaRPr lang="ru-RU" altLang="en-US">
              <a:solidFill>
                <a:schemeClr val="bg2">
                  <a:lumMod val="90000"/>
                </a:schemeClr>
              </a:solidFill>
              <a:latin typeface="DIN Alternate" panose="020B0500000000000000" charset="0"/>
              <a:cs typeface="DIN Alternate" panose="020B0500000000000000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DIN Alternate" panose="020B0500000000000000" charset="0"/>
                <a:cs typeface="DIN Alternate" panose="020B0500000000000000" charset="0"/>
              </a:rPr>
              <a:t>Постановка задачи</a:t>
            </a:r>
            <a:endParaRPr 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Аутальность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  <a:p>
            <a:pPr marL="0" indent="0">
              <a:buNone/>
            </a:pP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В</a:t>
            </a:r>
            <a:r>
              <a:rPr lang="en-US" altLang="en-US">
                <a:latin typeface="DIN Alternate" panose="020B0500000000000000" charset="0"/>
                <a:cs typeface="DIN Alternate" panose="020B0500000000000000" charset="0"/>
              </a:rPr>
              <a:t> современных условиях активного развития торговли и логистики особое значение приобретает автоматизация процессов складского учёта.</a:t>
            </a:r>
            <a:br>
              <a:rPr lang="en-US" altLang="en-US">
                <a:latin typeface="DIN Alternate" panose="020B0500000000000000" charset="0"/>
                <a:cs typeface="DIN Alternate" panose="020B0500000000000000" charset="0"/>
              </a:rPr>
            </a:br>
            <a:br>
              <a:rPr lang="en-US" altLang="en-US">
                <a:latin typeface="DIN Alternate" panose="020B0500000000000000" charset="0"/>
                <a:cs typeface="DIN Alternate" panose="020B0500000000000000" charset="0"/>
              </a:rPr>
            </a:b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Цель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  <a:p>
            <a:pPr marL="0" indent="0">
              <a:buNone/>
            </a:pP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Создание ИС для а</a:t>
            </a:r>
            <a:r>
              <a:rPr lang="en-US" altLang="en-US">
                <a:latin typeface="DIN Alternate" panose="020B0500000000000000" charset="0"/>
                <a:cs typeface="DIN Alternate" panose="020B0500000000000000" charset="0"/>
              </a:rPr>
              <a:t>втоматизация процессов учёта сотрудников, поступлений, хранения, реализации и списания товаров, а также формирование отчётных и справочных документов по результатам работы склада</a:t>
            </a: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.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2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DIN Alternate" panose="020B0500000000000000" charset="0"/>
                <a:cs typeface="DIN Alternate" panose="020B0500000000000000" charset="0"/>
              </a:rPr>
              <a:t>Целевая аудитоия</a:t>
            </a:r>
            <a:endParaRPr 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325110" cy="4351655"/>
          </a:xfrm>
        </p:spPr>
        <p:txBody>
          <a:bodyPr>
            <a:normAutofit lnSpcReduction="10000"/>
          </a:bodyPr>
          <a:p>
            <a:pPr marL="0" indent="0" algn="l">
              <a:buNone/>
            </a:pP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Сотрудники склада: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  <a:p>
            <a:pPr algn="l">
              <a:buFont typeface="Arial" panose="020B0604020202090204" pitchFamily="34" charset="0"/>
              <a:buChar char="−"/>
            </a:pP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 менеджер</a:t>
            </a:r>
            <a:r>
              <a:rPr lang="en-US" altLang="ru-RU">
                <a:latin typeface="DIN Alternate" panose="020B0500000000000000" charset="0"/>
                <a:cs typeface="DIN Alternate" panose="020B0500000000000000" charset="0"/>
              </a:rPr>
              <a:t>;</a:t>
            </a:r>
            <a:endParaRPr lang="en-US" altLang="ru-RU">
              <a:latin typeface="DIN Alternate" panose="020B0500000000000000" charset="0"/>
              <a:cs typeface="DIN Alternate" panose="020B0500000000000000" charset="0"/>
            </a:endParaRPr>
          </a:p>
          <a:p>
            <a:pPr algn="l">
              <a:buFont typeface="Arial" panose="020B0604020202090204" pitchFamily="34" charset="0"/>
              <a:buChar char="−"/>
            </a:pP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модератор</a:t>
            </a:r>
            <a:r>
              <a:rPr lang="en-US" altLang="ru-RU">
                <a:latin typeface="DIN Alternate" panose="020B0500000000000000" charset="0"/>
                <a:cs typeface="DIN Alternate" panose="020B0500000000000000" charset="0"/>
              </a:rPr>
              <a:t>;</a:t>
            </a:r>
            <a:endParaRPr lang="en-US" altLang="ru-RU">
              <a:latin typeface="DIN Alternate" panose="020B0500000000000000" charset="0"/>
              <a:cs typeface="DIN Alternate" panose="020B0500000000000000" charset="0"/>
            </a:endParaRPr>
          </a:p>
          <a:p>
            <a:pPr algn="l">
              <a:buFont typeface="Arial" panose="020B0604020202090204" pitchFamily="34" charset="0"/>
              <a:buChar char="−"/>
            </a:pP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администратор</a:t>
            </a:r>
            <a:r>
              <a:rPr lang="en-US" altLang="ru-RU">
                <a:latin typeface="DIN Alternate" panose="020B0500000000000000" charset="0"/>
                <a:cs typeface="DIN Alternate" panose="020B0500000000000000" charset="0"/>
              </a:rPr>
              <a:t>.</a:t>
            </a:r>
            <a:endParaRPr lang="en-US" altLang="ru-RU">
              <a:latin typeface="DIN Alternate" panose="020B0500000000000000" charset="0"/>
              <a:cs typeface="DIN Alternate" panose="020B0500000000000000" charset="0"/>
            </a:endParaRPr>
          </a:p>
        </p:txBody>
      </p:sp>
      <p:pic>
        <p:nvPicPr>
          <p:cNvPr id="89" name="Picture 89" descr="Диаграмма прецеденто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700" y="1134110"/>
            <a:ext cx="5410200" cy="5043170"/>
          </a:xfrm>
          <a:prstGeom prst="rect">
            <a:avLst/>
          </a:prstGeom>
        </p:spPr>
      </p:pic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3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Концептуальная модель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pic>
        <p:nvPicPr>
          <p:cNvPr id="6" name="Content Placeholder 5" descr="storage-concept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23670" y="1421130"/>
            <a:ext cx="9345295" cy="5008245"/>
          </a:xfrm>
          <a:prstGeom prst="rect">
            <a:avLst/>
          </a:prstGeom>
        </p:spPr>
      </p:pic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4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Реляционная модель данных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pic>
        <p:nvPicPr>
          <p:cNvPr id="5" name="Picture 4" descr="Untitled"/>
          <p:cNvPicPr>
            <a:picLocks noChangeAspect="1"/>
          </p:cNvPicPr>
          <p:nvPr/>
        </p:nvPicPr>
        <p:blipFill>
          <a:blip r:embed="rId1"/>
          <a:srcRect t="27615" r="47833" b="13991"/>
          <a:stretch>
            <a:fillRect/>
          </a:stretch>
        </p:blipFill>
        <p:spPr>
          <a:xfrm>
            <a:off x="1269365" y="1466850"/>
            <a:ext cx="9652635" cy="5052060"/>
          </a:xfrm>
          <a:prstGeom prst="rect">
            <a:avLst/>
          </a:prstGeom>
        </p:spPr>
      </p:pic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5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Объекты базы данных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pic>
        <p:nvPicPr>
          <p:cNvPr id="5" name="Picture 4" descr="Снимок экрана 2025-12-21 в 12.29.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4420" y="1604010"/>
            <a:ext cx="3110230" cy="4397375"/>
          </a:xfrm>
          <a:prstGeom prst="rect">
            <a:avLst/>
          </a:prstGeom>
        </p:spPr>
      </p:pic>
      <p:pic>
        <p:nvPicPr>
          <p:cNvPr id="6" name="Picture 5" descr="Снимок экрана 2025-12-21 в 12.30.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030" y="1604010"/>
            <a:ext cx="3277235" cy="838835"/>
          </a:xfrm>
          <a:prstGeom prst="rect">
            <a:avLst/>
          </a:prstGeom>
        </p:spPr>
      </p:pic>
      <p:pic>
        <p:nvPicPr>
          <p:cNvPr id="7" name="Picture 6" descr="Снимок экрана 2025-12-21 в 12.30.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995930"/>
            <a:ext cx="2148205" cy="866140"/>
          </a:xfrm>
          <a:prstGeom prst="rect">
            <a:avLst/>
          </a:prstGeom>
        </p:spPr>
      </p:pic>
      <p:pic>
        <p:nvPicPr>
          <p:cNvPr id="8" name="Picture 7" descr="Снимок экрана 2025-12-21 в 12.32.55"/>
          <p:cNvPicPr>
            <a:picLocks noChangeAspect="1"/>
          </p:cNvPicPr>
          <p:nvPr/>
        </p:nvPicPr>
        <p:blipFill>
          <a:blip r:embed="rId4"/>
          <a:srcRect r="14057"/>
          <a:stretch>
            <a:fillRect/>
          </a:stretch>
        </p:blipFill>
        <p:spPr>
          <a:xfrm>
            <a:off x="935990" y="1604010"/>
            <a:ext cx="2042160" cy="4393565"/>
          </a:xfrm>
          <a:prstGeom prst="rect">
            <a:avLst/>
          </a:prstGeom>
        </p:spPr>
      </p:pic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6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Создание таблиц с ограничениями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7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4" name="Picture 3" descr="Снимок экрана 2025-12-22 в 12.54.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425" y="2249170"/>
            <a:ext cx="9455150" cy="2359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Создание представлений для отчетов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8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5" name="Picture 4" descr="Снимок экрана 2025-12-22 в 13.00.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446530"/>
            <a:ext cx="5166360" cy="5030470"/>
          </a:xfrm>
          <a:prstGeom prst="rect">
            <a:avLst/>
          </a:prstGeom>
        </p:spPr>
      </p:pic>
      <p:pic>
        <p:nvPicPr>
          <p:cNvPr id="6" name="Picture 5" descr="Снимок экрана 2025-12-22 в 13.01.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560" y="5659755"/>
            <a:ext cx="5930265" cy="8172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Запросы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9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5" name="Picture 4" descr="Снимок экрана 2025-12-22 в 13.02.06"/>
          <p:cNvPicPr>
            <a:picLocks noChangeAspect="1"/>
          </p:cNvPicPr>
          <p:nvPr/>
        </p:nvPicPr>
        <p:blipFill>
          <a:blip r:embed="rId1"/>
          <a:srcRect l="1286"/>
          <a:stretch>
            <a:fillRect/>
          </a:stretch>
        </p:blipFill>
        <p:spPr>
          <a:xfrm>
            <a:off x="838200" y="1691005"/>
            <a:ext cx="6923405" cy="2712085"/>
          </a:xfrm>
          <a:prstGeom prst="rect">
            <a:avLst/>
          </a:prstGeom>
        </p:spPr>
      </p:pic>
      <p:pic>
        <p:nvPicPr>
          <p:cNvPr id="6" name="Picture 5" descr="Снимок экрана 2025-12-22 в 13.02.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25" y="4438015"/>
            <a:ext cx="6985000" cy="19081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Триггер для логирования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10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4" name="Picture 3" descr="Снимок экрана 2025-12-22 в 13.04.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523365"/>
            <a:ext cx="6071235" cy="3388360"/>
          </a:xfrm>
          <a:prstGeom prst="rect">
            <a:avLst/>
          </a:prstGeom>
        </p:spPr>
      </p:pic>
      <p:pic>
        <p:nvPicPr>
          <p:cNvPr id="5" name="Picture 4" descr="Снимок экрана 2025-12-22 в 13.06.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845" y="5002530"/>
            <a:ext cx="9488170" cy="14744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Приложение для </a:t>
            </a:r>
            <a:r>
              <a:rPr lang="en-US" altLang="ru-RU">
                <a:latin typeface="DIN Alternate" panose="020B0500000000000000" charset="0"/>
                <a:cs typeface="DIN Alternate" panose="020B0500000000000000" charset="0"/>
              </a:rPr>
              <a:t>базы данных</a:t>
            </a:r>
            <a:endParaRPr lang="en-US" altLang="ru-RU">
              <a:latin typeface="DIN Alternate" panose="020B0500000000000000" charset="0"/>
              <a:cs typeface="DIN Alternate" panose="020B050000000000000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latin typeface="DIN Alternate" panose="020B0500000000000000" charset="0"/>
                <a:cs typeface="DIN Alternate" panose="020B0500000000000000" charset="0"/>
              </a:rPr>
              <a:t>Приложение реализовано как веб-приложение с клиент-серверной архитектурой и развернуто с использованием Docker-контейнеров</a:t>
            </a: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.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11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l="20745" t="12518" r="20290" b="13331"/>
          <a:stretch>
            <a:fillRect/>
          </a:stretch>
        </p:blipFill>
        <p:spPr>
          <a:xfrm>
            <a:off x="475615" y="4713605"/>
            <a:ext cx="1564640" cy="13912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665" y="5027295"/>
            <a:ext cx="2091690" cy="7766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330" y="4562475"/>
            <a:ext cx="1212850" cy="1706245"/>
          </a:xfrm>
          <a:prstGeom prst="rect">
            <a:avLst/>
          </a:prstGeom>
        </p:spPr>
      </p:pic>
      <p:pic>
        <p:nvPicPr>
          <p:cNvPr id="15" name="Picture 14" descr="Postgresql_elephant.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0795" y="4713605"/>
            <a:ext cx="1577975" cy="162814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rcRect l="22973" r="22934"/>
          <a:stretch>
            <a:fillRect/>
          </a:stretch>
        </p:blipFill>
        <p:spPr>
          <a:xfrm>
            <a:off x="10022205" y="4561840"/>
            <a:ext cx="1758315" cy="1706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Ключевые функции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1. Работа с документами (приёмка/списание/переоценка)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  <a:p>
            <a:pPr marL="0" indent="0">
              <a:buNone/>
            </a:pP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2. Работа с товарами (карточки товаров)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  <a:p>
            <a:pPr marL="0" indent="0">
              <a:buNone/>
            </a:pP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3. Работа с партиями товаров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  <a:p>
            <a:pPr marL="0" indent="0">
              <a:buNone/>
            </a:pP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4. Администрирование БД (просмотр логов, управление пользователями)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/>
                <a:gridCol w="4064000"/>
                <a:gridCol w="4064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12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Снимок экрана 2025-12-21 в 11.49.28"/>
          <p:cNvPicPr>
            <a:picLocks noChangeAspect="1"/>
          </p:cNvPicPr>
          <p:nvPr/>
        </p:nvPicPr>
        <p:blipFill>
          <a:blip r:embed="rId1"/>
          <a:srcRect b="2252"/>
          <a:stretch>
            <a:fillRect/>
          </a:stretch>
        </p:blipFill>
        <p:spPr>
          <a:xfrm>
            <a:off x="316865" y="0"/>
            <a:ext cx="11569112" cy="6400800"/>
          </a:xfrm>
          <a:prstGeom prst="rect">
            <a:avLst/>
          </a:prstGeom>
        </p:spPr>
      </p:pic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/>
                <a:gridCol w="4064000"/>
                <a:gridCol w="4064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Домашняя страниц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13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/>
                <a:gridCol w="4064000"/>
                <a:gridCol w="4064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Страница входа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1</a:t>
                      </a: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4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2" name="Picture 1" descr="Снимок экрана 2025-12-21 в 11.59.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960" y="0"/>
            <a:ext cx="11308673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Снимок экрана 2025-12-21 в 12.00.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325" y="0"/>
            <a:ext cx="11308673" cy="6400800"/>
          </a:xfrm>
          <a:prstGeom prst="rect">
            <a:avLst/>
          </a:prstGeom>
        </p:spPr>
      </p:pic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/>
                <a:gridCol w="4064000"/>
                <a:gridCol w="4064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Документы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1</a:t>
                      </a: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5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Picture 7" descr="Снимок экрана 2025-12-21 в 12.01.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65" y="8255"/>
            <a:ext cx="12116435" cy="6858000"/>
          </a:xfrm>
          <a:prstGeom prst="rect">
            <a:avLst/>
          </a:prstGeom>
        </p:spPr>
      </p:pic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/>
                <a:gridCol w="4064000"/>
                <a:gridCol w="4064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Содержание документа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1</a:t>
                      </a: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6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Снимок экрана 2025-12-21 в 11.59.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325" y="0"/>
            <a:ext cx="11308673" cy="6400800"/>
          </a:xfrm>
          <a:prstGeom prst="rect">
            <a:avLst/>
          </a:prstGeom>
        </p:spPr>
      </p:pic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/>
                <a:gridCol w="4064000"/>
                <a:gridCol w="4064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Продукты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1</a:t>
                      </a: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7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Снимок экрана 2025-12-21 в 12.03.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960" y="0"/>
            <a:ext cx="11308673" cy="6400800"/>
          </a:xfrm>
          <a:prstGeom prst="rect">
            <a:avLst/>
          </a:prstGeom>
        </p:spPr>
      </p:pic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/>
                <a:gridCol w="4064000"/>
                <a:gridCol w="4064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Модальное окно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1</a:t>
                      </a: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8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Снимок экрана 2025-12-21 в 12.01.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325" y="0"/>
            <a:ext cx="11308673" cy="6400800"/>
          </a:xfrm>
          <a:prstGeom prst="rect">
            <a:avLst/>
          </a:prstGeom>
        </p:spPr>
      </p:pic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/>
                <a:gridCol w="4064000"/>
                <a:gridCol w="4064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Производители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1</a:t>
                      </a: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9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Снимок экрана 2025-12-21 в 11.59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960" y="0"/>
            <a:ext cx="11308673" cy="6400800"/>
          </a:xfrm>
          <a:prstGeom prst="rect">
            <a:avLst/>
          </a:prstGeom>
        </p:spPr>
      </p:pic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/>
                <a:gridCol w="4064000"/>
                <a:gridCol w="4064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Сотрудники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20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Снимок экрана 2025-12-21 в 11.59.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325" y="0"/>
            <a:ext cx="11308673" cy="6400800"/>
          </a:xfrm>
          <a:prstGeom prst="rect">
            <a:avLst/>
          </a:prstGeom>
        </p:spPr>
      </p:pic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/>
                <a:gridCol w="4064000"/>
                <a:gridCol w="4064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Отчет в виде таблицы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21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Снимок экрана 2025-12-21 в 12.00.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960" y="0"/>
            <a:ext cx="11308673" cy="6400800"/>
          </a:xfrm>
          <a:prstGeom prst="rect">
            <a:avLst/>
          </a:prstGeom>
        </p:spPr>
      </p:pic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/>
                <a:gridCol w="4064000"/>
                <a:gridCol w="4064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Отчет в виде диаграммы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22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Снимок экрана 2025-12-21 в 12.00.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325" y="0"/>
            <a:ext cx="11308673" cy="6400800"/>
          </a:xfrm>
          <a:prstGeom prst="rect">
            <a:avLst/>
          </a:prstGeom>
        </p:spPr>
      </p:pic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/>
                <a:gridCol w="4064000"/>
                <a:gridCol w="4064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Сохранение отчета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23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Снимок экрана 2025-12-21 в 12.02.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960" y="0"/>
            <a:ext cx="11308673" cy="6400800"/>
          </a:xfrm>
          <a:prstGeom prst="rect">
            <a:avLst/>
          </a:prstGeom>
        </p:spPr>
      </p:pic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/>
                <a:gridCol w="4064000"/>
                <a:gridCol w="4064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Просмотр логов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24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Методы защиты данных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Arial" panose="020B0604020202090204" pitchFamily="34" charset="0"/>
              <a:buChar char="−"/>
            </a:pP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Использование пароля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  <a:p>
            <a:pPr>
              <a:buFont typeface="Arial" panose="020B0604020202090204" pitchFamily="34" charset="0"/>
              <a:buChar char="−"/>
            </a:pPr>
            <a:r>
              <a:rPr lang="ru-RU" altLang="en-US">
                <a:latin typeface="DIN Alternate" panose="020B0500000000000000" charset="0"/>
                <a:cs typeface="DIN Alternate" panose="020B0500000000000000" charset="0"/>
                <a:sym typeface="+mn-ea"/>
              </a:rPr>
              <a:t>Аутентификация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  <a:p>
            <a:pPr>
              <a:buFont typeface="Arial" panose="020B0604020202090204" pitchFamily="34" charset="0"/>
              <a:buChar char="−"/>
            </a:pP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Управление доступом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  <a:p>
            <a:pPr>
              <a:buFont typeface="Arial" panose="020B0604020202090204" pitchFamily="34" charset="0"/>
              <a:buChar char="−"/>
            </a:pP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Поддержание целостности данных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  <a:p>
            <a:pPr>
              <a:buFont typeface="Arial" panose="020B0604020202090204" pitchFamily="34" charset="0"/>
              <a:buChar char="−"/>
            </a:pP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Резервное копирование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2</a:t>
                      </a: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5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Использование пароля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pic>
        <p:nvPicPr>
          <p:cNvPr id="6" name="Picture 5" descr="Снимок экрана 2025-12-21 в 13.09.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625" y="4090670"/>
            <a:ext cx="9811385" cy="1894205"/>
          </a:xfrm>
          <a:prstGeom prst="rect">
            <a:avLst/>
          </a:prstGeom>
        </p:spPr>
      </p:pic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2</a:t>
                      </a: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6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7" name="Picture 6" descr="Снимок экрана 2025-12-21 в 14.26.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1691005"/>
            <a:ext cx="9810750" cy="20764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Аутентификация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2</a:t>
                      </a: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7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5" name="Picture 4" descr="Снимок экрана 2025-12-21 в 14.59.30"/>
          <p:cNvPicPr>
            <a:picLocks noChangeAspect="1"/>
          </p:cNvPicPr>
          <p:nvPr/>
        </p:nvPicPr>
        <p:blipFill>
          <a:blip r:embed="rId1"/>
          <a:srcRect r="508"/>
          <a:stretch>
            <a:fillRect/>
          </a:stretch>
        </p:blipFill>
        <p:spPr>
          <a:xfrm>
            <a:off x="838200" y="1691005"/>
            <a:ext cx="7088505" cy="44005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Управление доступом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2</a:t>
                      </a: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8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5" name="Picture 4" descr="Снимок экрана 2025-12-21 в 14.41.46"/>
          <p:cNvPicPr>
            <a:picLocks noChangeAspect="1"/>
          </p:cNvPicPr>
          <p:nvPr/>
        </p:nvPicPr>
        <p:blipFill>
          <a:blip r:embed="rId1"/>
          <a:srcRect t="255"/>
          <a:stretch>
            <a:fillRect/>
          </a:stretch>
        </p:blipFill>
        <p:spPr>
          <a:xfrm>
            <a:off x="970915" y="1492250"/>
            <a:ext cx="2459990" cy="4725670"/>
          </a:xfrm>
          <a:prstGeom prst="rect">
            <a:avLst/>
          </a:prstGeom>
        </p:spPr>
      </p:pic>
      <p:pic>
        <p:nvPicPr>
          <p:cNvPr id="6" name="Picture 5" descr="Снимок экрана 2025-12-21 в 14.43.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420" y="4594225"/>
            <a:ext cx="6027420" cy="1623695"/>
          </a:xfrm>
          <a:prstGeom prst="rect">
            <a:avLst/>
          </a:prstGeom>
        </p:spPr>
      </p:pic>
      <p:pic>
        <p:nvPicPr>
          <p:cNvPr id="7" name="Picture 6" descr="Снимок экрана 2025-12-21 в 14.44.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420" y="1492250"/>
            <a:ext cx="6027420" cy="25101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Поддрежание целостности данных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2</a:t>
                      </a: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9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6" name="Picture 5" descr="Снимок экрана 2025-12-21 в 14.51.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3270" y="1691005"/>
            <a:ext cx="5264150" cy="1082040"/>
          </a:xfrm>
          <a:prstGeom prst="rect">
            <a:avLst/>
          </a:prstGeom>
        </p:spPr>
      </p:pic>
      <p:pic>
        <p:nvPicPr>
          <p:cNvPr id="7" name="Picture 6" descr="Снимок экрана 2025-12-21 в 14.52.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465" y="4775200"/>
            <a:ext cx="9831070" cy="1389380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1180465" y="1691005"/>
            <a:ext cx="4282440" cy="2720975"/>
            <a:chOff x="1481" y="-1060"/>
            <a:chExt cx="10980" cy="6681"/>
          </a:xfrm>
        </p:grpSpPr>
        <p:pic>
          <p:nvPicPr>
            <p:cNvPr id="4" name="Picture 3" descr="Снимок экрана 2025-12-21 в 14.47.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1" y="-1060"/>
              <a:ext cx="10980" cy="2685"/>
            </a:xfrm>
            <a:prstGeom prst="rect">
              <a:avLst/>
            </a:prstGeom>
          </p:spPr>
        </p:pic>
        <p:pic>
          <p:nvPicPr>
            <p:cNvPr id="8" name="Picture 7" descr="Снимок экрана 2025-12-21 в 14.55.0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81" y="1625"/>
              <a:ext cx="10979" cy="39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Резервное копирование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30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4" name="Picture 3" descr="Снимок экрана 2025-12-21 в 15.28.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2770" y="1691005"/>
            <a:ext cx="8646160" cy="4292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Итоги и заключение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latin typeface="DIN Alternate" panose="020B0500000000000000" charset="0"/>
                <a:cs typeface="DIN Alternate" panose="020B0500000000000000" charset="0"/>
              </a:rPr>
              <a:t>В ходе курсового проектирования были изучены основы проектирования баз данных, освоены инструменты для работы с ними и улучшены навыки программирования. Все поставленные задачи были реализованы, а проект выполнен в полном объёме.</a:t>
            </a:r>
            <a:endParaRPr lang="en-US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31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0555" y="2766060"/>
            <a:ext cx="5850890" cy="1325880"/>
          </a:xfrm>
        </p:spPr>
        <p:txBody>
          <a:bodyPr>
            <a:noAutofit/>
          </a:bodyPr>
          <a:p>
            <a:pPr algn="ctr"/>
            <a:r>
              <a:rPr lang="ru-RU" altLang="en-US" sz="6600">
                <a:latin typeface="DIN Alternate" panose="020B0500000000000000" charset="0"/>
                <a:cs typeface="DIN Alternate" panose="020B0500000000000000" charset="0"/>
              </a:rPr>
              <a:t>Спасибо </a:t>
            </a:r>
            <a:br>
              <a:rPr lang="ru-RU" altLang="en-US" sz="6600">
                <a:latin typeface="DIN Alternate" panose="020B0500000000000000" charset="0"/>
                <a:cs typeface="DIN Alternate" panose="020B0500000000000000" charset="0"/>
              </a:rPr>
            </a:br>
            <a:r>
              <a:rPr lang="ru-RU" altLang="en-US" sz="6600">
                <a:latin typeface="DIN Alternate" panose="020B0500000000000000" charset="0"/>
                <a:cs typeface="DIN Alternate" panose="020B0500000000000000" charset="0"/>
              </a:rPr>
              <a:t>за внимание!</a:t>
            </a:r>
            <a:endParaRPr lang="ru-RU" altLang="en-US" sz="6600">
              <a:latin typeface="DIN Alternate" panose="020B0500000000000000" charset="0"/>
              <a:cs typeface="DIN Alternate" panose="020B0500000000000000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2191</Words>
  <Application>WPS Presentation</Application>
  <PresentationFormat>Widescreen</PresentationFormat>
  <Paragraphs>212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Arial</vt:lpstr>
      <vt:lpstr>SimSun</vt:lpstr>
      <vt:lpstr>Wingdings</vt:lpstr>
      <vt:lpstr>DIN Alternate</vt:lpstr>
      <vt:lpstr>Microsoft YaHei</vt:lpstr>
      <vt:lpstr>汉仪旗黑</vt:lpstr>
      <vt:lpstr>Arial Unicode MS</vt:lpstr>
      <vt:lpstr>Calibri Light</vt:lpstr>
      <vt:lpstr>Helvetica Neue</vt:lpstr>
      <vt:lpstr>Calibri</vt:lpstr>
      <vt:lpstr>宋体-简</vt:lpstr>
      <vt:lpstr>Office Theme</vt:lpstr>
      <vt:lpstr>Разработка базы данных  для системы автоматизации работы склада</vt:lpstr>
      <vt:lpstr>Постановка задачи</vt:lpstr>
      <vt:lpstr>Целевая аудитоия</vt:lpstr>
      <vt:lpstr>Концептуальная модель</vt:lpstr>
      <vt:lpstr>Реляционная модель данных</vt:lpstr>
      <vt:lpstr>Объекты базы данных</vt:lpstr>
      <vt:lpstr>PowerPoint 演示文稿</vt:lpstr>
      <vt:lpstr>PowerPoint 演示文稿</vt:lpstr>
      <vt:lpstr>PowerPoint 演示文稿</vt:lpstr>
      <vt:lpstr>PowerPoint 演示文稿</vt:lpstr>
      <vt:lpstr>Приложение для базы данных</vt:lpstr>
      <vt:lpstr>Ключевые функции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Методы защиты данных</vt:lpstr>
      <vt:lpstr>Использование пароля</vt:lpstr>
      <vt:lpstr>Аутентификация</vt:lpstr>
      <vt:lpstr>Управление доступом</vt:lpstr>
      <vt:lpstr>Поддрежание целостности данных</vt:lpstr>
      <vt:lpstr>Резервное копирование</vt:lpstr>
      <vt:lpstr>Итоги и заключение</vt:lpstr>
      <vt:lpstr>Спасибо 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roman</dc:creator>
  <cp:lastModifiedBy>Роман Михайлов</cp:lastModifiedBy>
  <cp:revision>108</cp:revision>
  <dcterms:created xsi:type="dcterms:W3CDTF">2025-12-22T10:08:16Z</dcterms:created>
  <dcterms:modified xsi:type="dcterms:W3CDTF">2025-12-22T10:08:16Z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1BF0E73A4F1D6E351B9E4769FD38EEFE_41</vt:lpwstr>
  </property>
  <property fmtid="{D5CDD505-2E9C-101B-9397-08002B2CF9AE}" pid="3" name="KSOProductBuildVer">
    <vt:lpwstr>1033-12.1.23152.23152</vt:lpwstr>
  </property>
</Properties>
</file>